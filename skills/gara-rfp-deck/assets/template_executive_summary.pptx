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4177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0"/>
            <a:ext cx="246888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675120" y="0"/>
            <a:ext cx="36576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812280" y="5943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CIG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812280" y="777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BB2480578E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040880" y="1143000"/>
            <a:ext cx="173736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6812280" y="12527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Pubblicazione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12280" y="1435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07.04.2026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040880" y="1801368"/>
            <a:ext cx="173736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812280" y="19110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Valore Totale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812280" y="20939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€ 19.977.320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40880" y="2459736"/>
            <a:ext cx="173736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812280" y="25694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Durata Base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812280" y="27523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39 mesi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040880" y="3118104"/>
            <a:ext cx="173736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812280" y="32278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Proroga Max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812280" y="34107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+24 mesi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040880" y="3776472"/>
            <a:ext cx="173736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6812280" y="38862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Presidio Min.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812280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41 risorse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040880" y="4434840"/>
            <a:ext cx="173736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365760" y="9601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</a:t>
            </a:r>
            <a:endParaRPr lang="en-US" sz="5600" dirty="0"/>
          </a:p>
        </p:txBody>
      </p:sp>
      <p:sp>
        <p:nvSpPr>
          <p:cNvPr id="24" name="Text 22"/>
          <p:cNvSpPr/>
          <p:nvPr/>
        </p:nvSpPr>
        <p:spPr>
          <a:xfrm>
            <a:off x="365760" y="171907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BA0C0"/>
                </a:solidFill>
              </a:rPr>
              <a:t>Radiotelevisione Italiana S.p.A.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2148840"/>
            <a:ext cx="5486400" cy="502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365760" y="228600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Executive Summary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65760" y="28529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BA0C0"/>
                </a:solidFill>
              </a:rPr>
              <a:t>Servizi a Progetto — Sistemi Informativi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65760" y="327355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Procedura Aperta sopra soglia comunitaria ex art. 71 D.lgs. 36/2023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754880"/>
            <a:ext cx="6675120" cy="3886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365760" y="4754880"/>
            <a:ext cx="60350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Accenture  |  Riservato e Confidenziale  |  Maggio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 Cliente &amp; Scope RFP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02336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65760" y="9418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</a:rPr>
              <a:t>CLIENTE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82296" cy="822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30352" y="1298448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RAI – Radiotelevisione Italiana S.p.A.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792224"/>
            <a:ext cx="82296" cy="822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30352" y="1719072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Concessionaria esclusiva servizio pubblico radiotelevisivo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212848"/>
            <a:ext cx="82296" cy="822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30352" y="2139696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CTO – Direzione Reti e Piattaforme (struttura committente)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633472"/>
            <a:ext cx="82296" cy="822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30352" y="256032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Portfolio: ~30 applicazioni in produzione (web, mobile, Smart TV)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054096"/>
            <a:ext cx="82296" cy="822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30352" y="2980944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Asset strategico: RaiPlay (streaming multicanale)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474720"/>
            <a:ext cx="82296" cy="822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30352" y="3401568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Presenza: web, iOS/Android, Smart TV (HbbTV/VegaOS)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0" y="804672"/>
            <a:ext cx="4251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4572000" y="804672"/>
            <a:ext cx="42519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4681728" y="9418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SCOPE RFP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81728" y="1371600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846320" y="129844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Progettazione, sviluppo e manutenzione app e siti multimediali RAI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81728" y="1792224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4846320" y="171907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Gestione continuativa parco applicativo (~30 applicazioni)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81728" y="2212848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4846320" y="213969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Dual-track: Canone (presidio fisso) + T&amp;M (servizi on-demand)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81728" y="2633472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846320" y="256032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Copertura tecnologica full-stack: BE, FE, Mobile, SmartTV, DB, Cloud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81728" y="3054096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4846320" y="298094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Componenti AI/ML: Azure Cognitive Services, metadatazione contenuti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81728" y="3474720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4846320" y="340156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CMS proprietari RAI: OpenBoxes (legacy) e Washi (microservizi)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7772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RAI – RFP Servizi a Progetto Sistemi Informativi | Riservato e Confidenziale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59536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Scadenze Chiave &amp; Valore Appalto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49808" y="1554480"/>
            <a:ext cx="14173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594360" cy="5943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320040" y="2121408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320040" y="2121408"/>
            <a:ext cx="196596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365760" y="22402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4ED8"/>
                </a:solidFill>
              </a:rPr>
              <a:t>07 APR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D4ED8"/>
                </a:solidFill>
              </a:rPr>
              <a:t>2026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27889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Pubblicazione Bando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98648" y="1554480"/>
            <a:ext cx="14173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2560320" y="1325880"/>
            <a:ext cx="594360" cy="5943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2468880" y="2121408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2468880" y="2121408"/>
            <a:ext cx="19659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2514600" y="22402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7706"/>
                </a:solidFill>
              </a:rPr>
              <a:t>29 APR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D97706"/>
                </a:solidFill>
              </a:rPr>
              <a:t>2026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14600" y="27889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Termine Chiarimenti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(ore 12:00)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47488" y="1554480"/>
            <a:ext cx="14173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4709160" y="1325880"/>
            <a:ext cx="594360" cy="5943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4617720" y="2121408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4617720" y="2121408"/>
            <a:ext cx="19659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4663440" y="22402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</a:rPr>
              <a:t>13 MAG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</a:rPr>
              <a:t>2026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63440" y="27889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Scadenza Offerte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(ore 12:00)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58000" y="1325880"/>
            <a:ext cx="594360" cy="5943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6766560" y="2121408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6766560" y="2121408"/>
            <a:ext cx="19659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6812280" y="22402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59669"/>
                </a:solidFill>
              </a:rPr>
              <a:t>14 MAG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59669"/>
                </a:solidFill>
              </a:rPr>
              <a:t>2026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12280" y="27889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Prima Seduta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Commissione (ore 10:30)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4320" y="34290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VALORE APPALTO</a:t>
            </a:r>
            <a:endParaRPr lang="en-US" sz="1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730752"/>
          <a:ext cx="8595360" cy="11811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Componente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Importo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Note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Servizi – Durata base (39 mesi)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€ 12.122.820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Canone + T&amp;M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Proroga contrattuale (24 mesi)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€ 7.854.400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Opzionale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Oneri di sicurezza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€ 100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Non soggetti a ribasso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</a:rPr>
                        <a:t>TOTALE MASSIMO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</a:rPr>
                        <a:t>€ 19.977.320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i="1" dirty="0">
                          <a:solidFill>
                            <a:srgbClr val="64748B"/>
                          </a:solidFill>
                        </a:rPr>
                        <a:t>IVA esclusa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8"/>
          <p:cNvSpPr/>
          <p:nvPr/>
        </p:nvSpPr>
        <p:spPr>
          <a:xfrm>
            <a:off x="274320" y="4892040"/>
            <a:ext cx="7772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RAI – RFP Servizi a Progetto Sistemi Informativi | Riservato e Confidenziale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859536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Durata Contratto &amp; Modello Commerciale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02336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84048" y="9418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</a:rPr>
              <a:t>DURATA CONTRATTO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D4ED8"/>
                </a:solidFill>
              </a:rPr>
              <a:t>63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mesi max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20240" y="1298448"/>
            <a:ext cx="2194560" cy="749808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2011680" y="13533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</a:rPr>
              <a:t>Start-Up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15727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</a:rPr>
              <a:t>3 mesi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11680" y="18013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Affiancamento e presa in carico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920240" y="2148840"/>
            <a:ext cx="219456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2011680" y="22037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</a:rPr>
              <a:t>Operativo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1168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</a:rPr>
              <a:t>36 mesi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11680" y="26517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Erogazione servizi a regime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920240" y="2999232"/>
            <a:ext cx="2194560" cy="749808"/>
          </a:xfrm>
          <a:prstGeom prst="rect">
            <a:avLst/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2011680" y="30540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Proroga (opz.)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11680" y="32735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</a:rPr>
              <a:t>+ 24 mesi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011680" y="35021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Opzione contrattuale discrezionale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84048" y="4160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97706"/>
                </a:solidFill>
              </a:rPr>
              <a:t>⚠  Penali attive dal mese 7 (mesi 4-6: monitoraggio senza penali)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0" y="804672"/>
            <a:ext cx="4251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4572000" y="804672"/>
            <a:ext cx="42519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4681728" y="9418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MODELLO COMMERCIALE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81728" y="1298448"/>
            <a:ext cx="3977640" cy="148132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4800600" y="1389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9669"/>
                </a:solidFill>
              </a:rPr>
              <a:t>CANONE FISSO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1627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Presidio continuativo on-site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0600" y="1965960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965192" y="19019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MAC – Manutenzione Correttiva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00600" y="2231136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4965192" y="21671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REP – Reperibilità H24 (fuori orario)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2496312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4965192" y="24323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GES – Gestione Applicativi/DB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00600" y="2761488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4965192" y="26974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GST – Gestione Attività Standard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00600" y="3026664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4965192" y="29626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CON – Conferimento nuove app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81728" y="2907792"/>
            <a:ext cx="3977640" cy="148132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4800600" y="29992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</a:rPr>
              <a:t>T&amp;M – TIME &amp; MATERIAL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00600" y="32369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Servizi on-demand a richiesta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00600" y="3575304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4965192" y="35112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MAV – Manutenzione Adeguativa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00600" y="3840480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4965192" y="37764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MEV – Manutenzione Evolutiva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00600" y="4105656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45"/>
          <p:cNvSpPr/>
          <p:nvPr/>
        </p:nvSpPr>
        <p:spPr>
          <a:xfrm>
            <a:off x="4965192" y="40416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PRJ – Progetto (nuovo sviluppo)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00600" y="4370832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47"/>
          <p:cNvSpPr/>
          <p:nvPr/>
        </p:nvSpPr>
        <p:spPr>
          <a:xfrm>
            <a:off x="4965192" y="43068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Servizi Specialistici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49"/>
          <p:cNvSpPr/>
          <p:nvPr/>
        </p:nvSpPr>
        <p:spPr>
          <a:xfrm>
            <a:off x="274320" y="4892040"/>
            <a:ext cx="7772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RAI – RFP Servizi a Progetto Sistemi Informativi | Riservato e Confidenziale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859536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 di Valutazione dell'Offerta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651760" cy="11155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11480" y="859536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80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280160" y="9144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EAFE"/>
                </a:solidFill>
              </a:rPr>
              <a:t>PUNTI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12070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BFE"/>
                </a:solidFill>
              </a:rPr>
              <a:t>Offerta Tecnica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0" y="804672"/>
            <a:ext cx="2651760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3337560" y="859536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40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4206240" y="9144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EAFE"/>
                </a:solidFill>
              </a:rPr>
              <a:t>MIN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0" y="12070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BFE"/>
                </a:solidFill>
              </a:rPr>
              <a:t>Soglia Sbarramento Tecnica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26480" y="804672"/>
            <a:ext cx="2651760" cy="11155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6263640" y="859536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20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7132320" y="9144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EAFE"/>
                </a:solidFill>
              </a:rPr>
              <a:t>PUNTI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0" y="12070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BFE"/>
                </a:solidFill>
              </a:rPr>
              <a:t>Offerta Economica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084832"/>
            <a:ext cx="55778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274320" y="2084832"/>
            <a:ext cx="557784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384048" y="221284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</a:rPr>
              <a:t>DETTAGLIO OFFERTA TECNICA  (80 pt)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2578608"/>
            <a:ext cx="658368" cy="5669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384048" y="2624328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30 pt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15568" y="2606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1. Soluzioni Organizzative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15568" y="2852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Metodologie di presidio, gestione team, processi qualità, tool di governance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4048" y="3246120"/>
            <a:ext cx="658368" cy="5669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384048" y="329184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10 pt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15568" y="32735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2. Certificazioni Aziendali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15568" y="3520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ISO 9001, ISO 27001, CMMI, certificazioni tecnologiche rilevanti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84048" y="3913632"/>
            <a:ext cx="658368" cy="5669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384048" y="395935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40 pt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15568" y="39410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3. Skill &amp; Competences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15568" y="4187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CV profili chiave, esperienze similari, certificazioni individuali, linguistiche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26480" y="2084832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>
            <a:off x="6126480" y="2084832"/>
            <a:ext cx="27432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6236208" y="22128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</a:rPr>
              <a:t>OFFERTA ECONOMICA  (20 pt)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36208" y="25786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Ribasso % su Canone fisso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36208" y="28346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Ribasso % su tariffe T&amp;M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236208" y="30906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Ribasso applicato sulle tariffe a base d'asta per ciascun profilo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236208" y="334670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Rate card profili (base d'asta):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236208" y="360273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 • Architect: €280/gg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236208" y="38587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 • Tech Leader: €250/gg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236208" y="41148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 • Analyst Prog.: €210/gg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236208" y="43708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 • Programmer: €200/gg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274320" y="4892040"/>
            <a:ext cx="7772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RAI – RFP Servizi a Progetto Sistemi Informativi | Riservato e Confidenziale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59536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Vincoli SLA / KPI e Regime Penali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</a:rPr>
              <a:t>TEMPI DI PRESA IN CARICO &amp; RISOLUZIONE (Servizi a Canone)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60704"/>
          <a:ext cx="5303520" cy="13716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Priorità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Presa in carico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Risoluzione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991B1B"/>
                          </a:solidFill>
                        </a:rPr>
                        <a:t>P1 – Bloccante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 ora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4 ore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MAC/REP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</a:rPr>
                        <a:t>P2 – Critico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 ora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8 ore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MAC/REP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</a:rPr>
                        <a:t>P3 – Rilevante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 ora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12 ore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MAC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64748B"/>
                          </a:solidFill>
                        </a:rPr>
                        <a:t>P4 – Standard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 ora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16 ore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MAC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274320" y="25603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</a:rPr>
              <a:t>FASCE DI PRESTAZIONE (Indici I1-I6, Indici P1-P2)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2852928"/>
            <a:ext cx="914400" cy="868680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320040" y="29077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</a:rPr>
              <a:t>Fascia 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20040" y="31821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F46"/>
                </a:solidFill>
              </a:rPr>
              <a:t>≥ 0,99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280160" y="2852928"/>
            <a:ext cx="914400" cy="86868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1325880" y="29077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40AF"/>
                </a:solidFill>
              </a:rPr>
              <a:t>Fascia B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325880" y="31821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40AF"/>
                </a:solidFill>
              </a:rPr>
              <a:t>≥ 0,95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286000" y="2852928"/>
            <a:ext cx="914400" cy="868680"/>
          </a:xfrm>
          <a:prstGeom prst="rect">
            <a:avLst/>
          </a:prstGeom>
          <a:solidFill>
            <a:srgbClr val="FEF9C3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2331720" y="29077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13F12"/>
                </a:solidFill>
              </a:rPr>
              <a:t>Fascia C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331720" y="31821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13F12"/>
                </a:solidFill>
              </a:rPr>
              <a:t>≥ 0,90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291840" y="2852928"/>
            <a:ext cx="914400" cy="868680"/>
          </a:xfrm>
          <a:prstGeom prst="rect">
            <a:avLst/>
          </a:prstGeom>
          <a:solidFill>
            <a:srgbClr val="FFEDD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3337560" y="29077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3412"/>
                </a:solidFill>
              </a:rPr>
              <a:t>Fascia D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337560" y="31821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A3412"/>
                </a:solidFill>
              </a:rPr>
              <a:t>≥ 0,85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297680" y="2852928"/>
            <a:ext cx="914400" cy="868680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8"/>
          <p:cNvSpPr/>
          <p:nvPr/>
        </p:nvSpPr>
        <p:spPr>
          <a:xfrm>
            <a:off x="4343400" y="29077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91B1B"/>
                </a:solidFill>
              </a:rPr>
              <a:t>Fascia 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343400" y="31821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91B1B"/>
                </a:solidFill>
              </a:rPr>
              <a:t>&lt; 0,85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274320" y="38587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D97706"/>
                </a:solidFill>
              </a:rPr>
              <a:t>Penali: attive dal Mese 7  |  Mesi 1-3: start-up  |  Mesi 4-6: monitoraggio senza penali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852160" y="777240"/>
            <a:ext cx="297180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Shape 22"/>
          <p:cNvSpPr/>
          <p:nvPr/>
        </p:nvSpPr>
        <p:spPr>
          <a:xfrm>
            <a:off x="5852160" y="777240"/>
            <a:ext cx="29718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3"/>
          <p:cNvSpPr/>
          <p:nvPr/>
        </p:nvSpPr>
        <p:spPr>
          <a:xfrm>
            <a:off x="5961888" y="9144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</a:rPr>
              <a:t>INDICATORI PRESTAZIONE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961888" y="1280160"/>
            <a:ext cx="347472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5"/>
          <p:cNvSpPr/>
          <p:nvPr/>
        </p:nvSpPr>
        <p:spPr>
          <a:xfrm>
            <a:off x="5961888" y="130759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I1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382512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Rispetto tempi presa in carico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961888" y="1709928"/>
            <a:ext cx="347472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8"/>
          <p:cNvSpPr/>
          <p:nvPr/>
        </p:nvSpPr>
        <p:spPr>
          <a:xfrm>
            <a:off x="5961888" y="173736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I2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382512" y="1755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Rispetto tempi risoluzione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961888" y="2139696"/>
            <a:ext cx="347472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1"/>
          <p:cNvSpPr/>
          <p:nvPr/>
        </p:nvSpPr>
        <p:spPr>
          <a:xfrm>
            <a:off x="5961888" y="216712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I3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382512" y="21854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Qualità soluzione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961888" y="2569464"/>
            <a:ext cx="347472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4"/>
          <p:cNvSpPr/>
          <p:nvPr/>
        </p:nvSpPr>
        <p:spPr>
          <a:xfrm>
            <a:off x="5961888" y="259689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I4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382512" y="26151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Completezza documentazione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5961888" y="2999232"/>
            <a:ext cx="347472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7"/>
          <p:cNvSpPr/>
          <p:nvPr/>
        </p:nvSpPr>
        <p:spPr>
          <a:xfrm>
            <a:off x="5961888" y="302666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I5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382512" y="3044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Rispetto effort stimato (MEV/MAV/PRJ)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961888" y="3429000"/>
            <a:ext cx="347472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0"/>
          <p:cNvSpPr/>
          <p:nvPr/>
        </p:nvSpPr>
        <p:spPr>
          <a:xfrm>
            <a:off x="5961888" y="345643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I6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382512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Customer satisfaction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5961888" y="3950208"/>
            <a:ext cx="2697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43"/>
          <p:cNvSpPr/>
          <p:nvPr/>
        </p:nvSpPr>
        <p:spPr>
          <a:xfrm>
            <a:off x="5961888" y="400507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Indice di Prestazione Complessiva P1 (Reattività)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Indice di Prestazione Qualitativa P2 (Qualità)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5"/>
          <p:cNvSpPr/>
          <p:nvPr/>
        </p:nvSpPr>
        <p:spPr>
          <a:xfrm>
            <a:off x="274320" y="4892040"/>
            <a:ext cx="7772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RAI – RFP Servizi a Progetto Sistemi Informativi | Riservato e Confidenziale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859536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Aspetti Tecnologici — Industry Communications &amp; Media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7432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84048" y="85953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Backend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2336" y="1325880"/>
            <a:ext cx="82296" cy="822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66928" y="126187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Java 8 / Java 21 + Spring Boot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02336" y="1655064"/>
            <a:ext cx="82296" cy="822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66928" y="159105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Python (scripting, ML)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02336" y="1984248"/>
            <a:ext cx="82296" cy="822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66928" y="19202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Node.js + GraphQL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02336" y="2313432"/>
            <a:ext cx="82296" cy="822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66928" y="224942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REST API / Microservizi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182112" y="82296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3182112" y="822960"/>
            <a:ext cx="27432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3291840" y="85953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Frontend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10128" y="132588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3474720" y="126187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React / Next.js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10128" y="165506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3474720" y="159105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Angular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10128" y="1984248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3474720" y="19202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HTML5 / CSS3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10128" y="231343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3474720" y="224942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Typescript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089904" y="82296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Shape 26"/>
          <p:cNvSpPr/>
          <p:nvPr/>
        </p:nvSpPr>
        <p:spPr>
          <a:xfrm>
            <a:off x="6089904" y="822960"/>
            <a:ext cx="274320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6199632" y="85953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Mobile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1325880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6382512" y="126187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Swift (iOS)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17920" y="165506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6382512" y="159105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Kotlin (Android)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17920" y="1984248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6382512" y="19202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React Native (cross-platform)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217920" y="2313432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6382512" y="224942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HbbTV / VegaOS (SmartTV)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288036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9" name="Shape 37"/>
          <p:cNvSpPr/>
          <p:nvPr/>
        </p:nvSpPr>
        <p:spPr>
          <a:xfrm>
            <a:off x="274320" y="2880360"/>
            <a:ext cx="27432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384048" y="291693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Database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02336" y="3383280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566928" y="331927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Oracle (relazionale)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02336" y="3712464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566928" y="364845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MongoDB (NoSQL)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02336" y="4041648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566928" y="39776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Elasticsearch (ricerca/analytics)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02336" y="4370832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6"/>
          <p:cNvSpPr/>
          <p:nvPr/>
        </p:nvSpPr>
        <p:spPr>
          <a:xfrm>
            <a:off x="566928" y="430682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Redis (caching)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182112" y="288036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0" name="Shape 48"/>
          <p:cNvSpPr/>
          <p:nvPr/>
        </p:nvSpPr>
        <p:spPr>
          <a:xfrm>
            <a:off x="3182112" y="2880360"/>
            <a:ext cx="27432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49"/>
          <p:cNvSpPr/>
          <p:nvPr/>
        </p:nvSpPr>
        <p:spPr>
          <a:xfrm>
            <a:off x="3291840" y="291693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DevOps / Cloud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310128" y="3383280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3" name="Text 51"/>
          <p:cNvSpPr/>
          <p:nvPr/>
        </p:nvSpPr>
        <p:spPr>
          <a:xfrm>
            <a:off x="3474720" y="331927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Docker + Kubernetes + OpenShift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310128" y="3712464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Text 53"/>
          <p:cNvSpPr/>
          <p:nvPr/>
        </p:nvSpPr>
        <p:spPr>
          <a:xfrm>
            <a:off x="3474720" y="364845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AWS / Azure / GCP (multi-cloud)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310128" y="4041648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7" name="Text 55"/>
          <p:cNvSpPr/>
          <p:nvPr/>
        </p:nvSpPr>
        <p:spPr>
          <a:xfrm>
            <a:off x="3474720" y="39776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CI/CD pipelines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310128" y="4370832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9" name="Text 57"/>
          <p:cNvSpPr/>
          <p:nvPr/>
        </p:nvSpPr>
        <p:spPr>
          <a:xfrm>
            <a:off x="3474720" y="430682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Infrastructure as Code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089904" y="288036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1" name="Shape 59"/>
          <p:cNvSpPr/>
          <p:nvPr/>
        </p:nvSpPr>
        <p:spPr>
          <a:xfrm>
            <a:off x="6089904" y="2880360"/>
            <a:ext cx="274320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2" name="Text 60"/>
          <p:cNvSpPr/>
          <p:nvPr/>
        </p:nvSpPr>
        <p:spPr>
          <a:xfrm>
            <a:off x="6199632" y="291693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/ ML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217920" y="3383280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4" name="Text 62"/>
          <p:cNvSpPr/>
          <p:nvPr/>
        </p:nvSpPr>
        <p:spPr>
          <a:xfrm>
            <a:off x="6382512" y="331927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Azure Cognitive Services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217920" y="3712464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6" name="Text 64"/>
          <p:cNvSpPr/>
          <p:nvPr/>
        </p:nvSpPr>
        <p:spPr>
          <a:xfrm>
            <a:off x="6382512" y="364845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TensorFlow / PyTorch / Keras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217920" y="4041648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8" name="Text 66"/>
          <p:cNvSpPr/>
          <p:nvPr/>
        </p:nvSpPr>
        <p:spPr>
          <a:xfrm>
            <a:off x="6382512" y="39776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Scikit-Learn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217920" y="4370832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0" name="Text 68"/>
          <p:cNvSpPr/>
          <p:nvPr/>
        </p:nvSpPr>
        <p:spPr>
          <a:xfrm>
            <a:off x="6382512" y="430682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Metadatazione contenuti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2" name="Text 70"/>
          <p:cNvSpPr/>
          <p:nvPr/>
        </p:nvSpPr>
        <p:spPr>
          <a:xfrm>
            <a:off x="274320" y="4892040"/>
            <a:ext cx="7772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RAI – RFP Servizi a Progetto Sistemi Informativi | Riservato e Confidenziale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859536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di Delivery &amp; Skill Mix Richiesto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3886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38862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84048" y="941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</a:rPr>
              <a:t>MODELLO DI DELIVERY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" y="1298448"/>
            <a:ext cx="3621024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384048" y="1298448"/>
            <a:ext cx="54864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30352" y="13716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On-Site – Servizi a Canone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30352" y="162763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Presidio prevalentemente presso sede RAI Roma, Via Teulada 66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Orari: 08:00-20:00 feriali, reperibilità H24 festivi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4048" y="2350008"/>
            <a:ext cx="3621024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384048" y="2350008"/>
            <a:ext cx="54864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30352" y="24231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Remoto – Servizi a Richiesta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" y="267919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MAV/MEV/PRJ erogabili prevalentemente da remoto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Accessi sicuri alle piattaforme RAI tramite VPN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4048" y="3401568"/>
            <a:ext cx="3621024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384048" y="3401568"/>
            <a:ext cx="54864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530352" y="3474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Modello Ibrido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0352" y="373075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Flessibilità operativa secondo le esigenze del commitment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Possibilità di adeguamento su richiesta RAI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434840" y="804672"/>
            <a:ext cx="43891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4434840" y="804672"/>
            <a:ext cx="438912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4544568" y="9418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SKILL MIX RICHIESTO  (41 risorse minime)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44568" y="1280160"/>
          <a:ext cx="4160520" cy="3246124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18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Profilo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N°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Copertura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Project/Delivery Manager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Full time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Solution Architect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Full time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Tech Leader BE / FE / Mobile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Full time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Analyst Programmer BE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Full time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18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Analyst Programmer FE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Full time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8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Programmer BE / FE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Full time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18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Mobile Developer (iOS/Android)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Full time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18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SmartTV Developer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Full time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18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DBA (Oracle/MongoDB)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Full time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18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DevOps / SRE Engineer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Full time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18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Analista Funzionale/QA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Full time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18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Reperibilità (BE+FE)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H24 turni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18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</a:rPr>
                        <a:t>TOTALE MINIMO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</a:rPr>
                        <a:t>41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384048" y="45994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Turn over max 5%/trimestre • Affiancamento minimo 10 giorni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3"/>
          <p:cNvSpPr/>
          <p:nvPr/>
        </p:nvSpPr>
        <p:spPr>
          <a:xfrm>
            <a:off x="274320" y="4892040"/>
            <a:ext cx="7772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RAI – RFP Servizi a Progetto Sistemi Informativi | Riservato e Confidenziale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859536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Aspetti Procedurali &amp; Requisiti di Partecipazione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3977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397764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84048" y="9418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</a:rPr>
              <a:t>REQUISITI DI QUALIFICAZIONE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" y="1371600"/>
            <a:ext cx="82296" cy="822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48640" y="12984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Fatturato IT specifico: ≥ €10M negli ultimi 3 esercizi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" y="1664208"/>
            <a:ext cx="82296" cy="822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48640" y="15910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Contratti similari negli ultimi 10 anni: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" y="1956816"/>
            <a:ext cx="82296" cy="822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48640" y="18836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  – Siti web e portali: ≥ €4M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" y="2249424"/>
            <a:ext cx="82296" cy="822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  – Sistemi CMS: ≥ €1M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" y="2542032"/>
            <a:ext cx="82296" cy="822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48640" y="24688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  – App mobile e Smart TV: ≥ €2M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2834640"/>
            <a:ext cx="82296" cy="822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48640" y="27614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Possibilità di avvalimento e RTI consentita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218688"/>
            <a:ext cx="39776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274320" y="3218688"/>
            <a:ext cx="39776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384048" y="3355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INVERSIONE PROCEDIMENTALE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3675888"/>
            <a:ext cx="3749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Art. 107 D.Lgs. 36/2023 — La valutazione delle offerte tecniche ed economiche precede la verifica della documentazione amministrativa. La Commissione esamina prima tutte le offerte e solo successivamente richiede la documentazione ai concorrenti ammessi.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0" y="804672"/>
            <a:ext cx="425196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4572000" y="804672"/>
            <a:ext cx="42519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4681728" y="9418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GIUSTIFICAZIONE OFFERTA (Anomalia)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81728" y="1371600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4846320" y="1298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Richiesta EVENTUALE: facoltativa in sede di gara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81728" y="1737360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846320" y="16642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Diventa OBBLIGATORIA solo se la commissione attiva procedura di verifica anomalia (offerta anormalmente bassa)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81728" y="2103120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4846320" y="20299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In tal caso: giustificazione scritta entro i termini assegnati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81728" y="2468880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4846320" y="23957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Soglie anomalia: determinata da calcolo soglia media (metodo parametrico)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0" y="2926080"/>
            <a:ext cx="4251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6" name="Shape 34"/>
          <p:cNvSpPr/>
          <p:nvPr/>
        </p:nvSpPr>
        <p:spPr>
          <a:xfrm>
            <a:off x="4572000" y="2926080"/>
            <a:ext cx="425196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4681728" y="30632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PARCO APPLICATIVO PRINCIPALE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81728" y="3474720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4846320" y="34015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RaiPlay (web + app)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693408" y="3474720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6858000" y="34015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RaiNews / RaiSport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81728" y="3767328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4846320" y="36941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Washi CMS (nuovo)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693408" y="3767328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6858000" y="36941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OpenBoxes CMS (legacy)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81728" y="4059936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45"/>
          <p:cNvSpPr/>
          <p:nvPr/>
        </p:nvSpPr>
        <p:spPr>
          <a:xfrm>
            <a:off x="4846320" y="39867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RaiSSO / Auth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693408" y="4059936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47"/>
          <p:cNvSpPr/>
          <p:nvPr/>
        </p:nvSpPr>
        <p:spPr>
          <a:xfrm>
            <a:off x="6858000" y="39867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PGManager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681728" y="435254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49"/>
          <p:cNvSpPr/>
          <p:nvPr/>
        </p:nvSpPr>
        <p:spPr>
          <a:xfrm>
            <a:off x="4846320" y="42793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SmartTV HbbTV/VegaOS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693408" y="435254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3" name="Text 51"/>
          <p:cNvSpPr/>
          <p:nvPr/>
        </p:nvSpPr>
        <p:spPr>
          <a:xfrm>
            <a:off x="6858000" y="42793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Player RAI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Text 53"/>
          <p:cNvSpPr/>
          <p:nvPr/>
        </p:nvSpPr>
        <p:spPr>
          <a:xfrm>
            <a:off x="274320" y="4892040"/>
            <a:ext cx="7772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RAI – RFP Servizi a Progetto Sistemi Informativi | Riservato e Confidenziale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859536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Actions &amp; Next Steps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22960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229600" cy="658368"/>
          </a:xfrm>
          <a:prstGeom prst="rect">
            <a:avLst/>
          </a:prstGeom>
          <a:solidFill>
            <a:srgbClr val="0A1D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475488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13533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Chiarimenti entro 29 Aprile 2026 ore 12:00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32688" y="164592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Raccogliere e strutturare domande di chiarimento tecnico/commerciale. Priorità ai gap su volumi storici e distribuzione effort.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2029968"/>
            <a:ext cx="8229600" cy="658368"/>
          </a:xfrm>
          <a:prstGeom prst="rect">
            <a:avLst/>
          </a:prstGeom>
          <a:solidFill>
            <a:srgbClr val="0A1D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365760" y="2029968"/>
            <a:ext cx="475488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65760" y="2194560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8" y="20848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Verifica requisiti di qualificazione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32688" y="237744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Confermare fatturato specifico ≥€10M, contratti similari (siti web ≥€4M, CMS ≥€1M, mobile/TV ≥€2M). Valutare eventuale RTI.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761488"/>
            <a:ext cx="8229600" cy="658368"/>
          </a:xfrm>
          <a:prstGeom prst="rect">
            <a:avLst/>
          </a:prstGeom>
          <a:solidFill>
            <a:srgbClr val="0A1D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365760" y="2761488"/>
            <a:ext cx="475488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365760" y="2926080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2688" y="28163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Stima canone fisso (41 risorse minime)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32688" y="31089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Calcolare costo pieno presidio. Definire skill mix ottimale. Pianificare fasi start-up (mesi 1-3) e ramp-up verso regime.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3493008"/>
            <a:ext cx="8229600" cy="658368"/>
          </a:xfrm>
          <a:prstGeom prst="rect">
            <a:avLst/>
          </a:prstGeom>
          <a:solidFill>
            <a:srgbClr val="0A1D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365760" y="3493008"/>
            <a:ext cx="475488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365760" y="3657600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2688" y="35478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Strategia offerta tecnica (target 60+ pt su 80)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32688" y="38404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Strutturare soluzioni organizzative (30pt): metodologie, governance, tool. CV profili chiave (40pt). Certificazioni (10pt).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4224528"/>
            <a:ext cx="8229600" cy="658368"/>
          </a:xfrm>
          <a:prstGeom prst="rect">
            <a:avLst/>
          </a:prstGeom>
          <a:solidFill>
            <a:srgbClr val="0A1D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365760" y="4224528"/>
            <a:ext cx="475488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365760" y="4389120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32688" y="427939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Deadline offerta: 13 Maggio 2026 ore 12:00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32688" y="457200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Pianificare timeline interna di produzione offerta (tecnica + economica + amministrativa). Prima seduta commissione: 14 Maggio.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6576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</a:rPr>
              <a:t>Accenture  |  RAI RFP Executive Summary  |  Riservato e Confidenziale  |  Maggio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6534</TotalTime>
  <Words>1478</Words>
  <Application>Microsoft Office PowerPoint</Application>
  <PresentationFormat>On-screen Show (16:9)</PresentationFormat>
  <Paragraphs>323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 RFP Executive Summary</dc:title>
  <dc:subject>PptxGenJS Presentation</dc:subject>
  <dc:creator>Accenture</dc:creator>
  <cp:lastModifiedBy>Sarno, Giuseppe</cp:lastModifiedBy>
  <cp:revision>1</cp:revision>
  <dcterms:created xsi:type="dcterms:W3CDTF">2026-05-05T14:37:51Z</dcterms:created>
  <dcterms:modified xsi:type="dcterms:W3CDTF">2026-05-11T11:21:56Z</dcterms:modified>
</cp:coreProperties>
</file>